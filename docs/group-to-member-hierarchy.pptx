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F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体系设计稿 · 配套说明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集团 → 会员 层级树状图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参考《V2 核心体系设计 · 主线版》梳理业务对象的从属与来源关系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2075688" cy="457200"/>
          </a:xfrm>
          <a:prstGeom prst="roundRect">
            <a:avLst>
              <a:gd name="adj" fmla="val 20000"/>
            </a:avLst>
          </a:prstGeom>
          <a:solidFill>
            <a:srgbClr val="1E332E"/>
          </a:solidFill>
          <a:ln w="12700">
            <a:solidFill>
              <a:srgbClr val="1375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集团 / 市场 / 商户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27248" y="4572000"/>
            <a:ext cx="2075688" cy="457200"/>
          </a:xfrm>
          <a:prstGeom prst="roundRect">
            <a:avLst>
              <a:gd name="adj" fmla="val 20000"/>
            </a:avLst>
          </a:prstGeom>
          <a:solidFill>
            <a:srgbClr val="1E332E"/>
          </a:solidFill>
          <a:ln w="12700">
            <a:solidFill>
              <a:srgbClr val="1375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7248" y="457200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域名 / 渠道 / 会员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31536" y="4572000"/>
            <a:ext cx="2221992" cy="457200"/>
          </a:xfrm>
          <a:prstGeom prst="roundRect">
            <a:avLst>
              <a:gd name="adj" fmla="val 20000"/>
            </a:avLst>
          </a:prstGeom>
          <a:solidFill>
            <a:srgbClr val="1E332E"/>
          </a:solidFill>
          <a:ln w="12700">
            <a:solidFill>
              <a:srgbClr val="1375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1536" y="45720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投放 · 代理 · 自流量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75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§1 树状图总览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主线：层级树状图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75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实线为从属主线；渠道按来源分投放 / 代理 / 自流量三类，三类最终都汇入会员。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991356" y="182880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E8F3F1"/>
          </a:solidFill>
          <a:ln w="15240">
            <a:solidFill>
              <a:srgbClr val="1375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91356" y="18288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集团    </a:t>
            </a:r>
            <a:pPr algn="ctr" indent="0" marL="0">
              <a:buNone/>
            </a:pPr>
            <a:r>
              <a:rPr lang="en-US" sz="120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最高控制方 · 全局策略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4476" y="2304288"/>
            <a:ext cx="0" cy="128016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1356" y="2432304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E8F3F1"/>
          </a:solidFill>
          <a:ln w="15240">
            <a:solidFill>
              <a:srgbClr val="1375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91356" y="243230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    </a:t>
            </a:r>
            <a:pPr algn="ctr" indent="0" marL="0">
              <a:buNone/>
            </a:pPr>
            <a:r>
              <a:rPr lang="en-US" sz="120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国家市场 · 币种 / 语言 / 本地化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4476" y="2907792"/>
            <a:ext cx="0" cy="128016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1356" y="3035808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E8F3F1"/>
          </a:solidFill>
          <a:ln w="15240">
            <a:solidFill>
              <a:srgbClr val="1375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91356" y="303580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商户    </a:t>
            </a:r>
            <a:pPr algn="ctr" indent="0" marL="0">
              <a:buNone/>
            </a:pPr>
            <a:r>
              <a:rPr lang="en-US" sz="120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合同 · 计费 · 团队边界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4476" y="3511296"/>
            <a:ext cx="0" cy="128016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1356" y="3639312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E8F3F1"/>
          </a:solidFill>
          <a:ln w="15240">
            <a:solidFill>
              <a:srgbClr val="1375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91356" y="363931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域名    </a:t>
            </a:r>
            <a:pPr algn="ctr" indent="0" marL="0">
              <a:buNone/>
            </a:pPr>
            <a:r>
              <a:rPr lang="en-US" sz="120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品牌级入口资产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4476" y="4114800"/>
            <a:ext cx="0" cy="128016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91356" y="4242816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E8F3F1"/>
          </a:solidFill>
          <a:ln w="15240">
            <a:solidFill>
              <a:srgbClr val="1375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91356" y="424281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    </a:t>
            </a:r>
            <a:pPr algn="ctr" indent="0" marL="0">
              <a:buNone/>
            </a:pPr>
            <a:r>
              <a:rPr lang="en-US" sz="120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来源归因容器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4476" y="4718304"/>
            <a:ext cx="0" cy="201168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4919472"/>
            <a:ext cx="6702552" cy="0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4919472"/>
            <a:ext cx="0" cy="219456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4476" y="4919472"/>
            <a:ext cx="0" cy="219456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45752" y="4919472"/>
            <a:ext cx="0" cy="219456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5138928"/>
            <a:ext cx="2468880" cy="676656"/>
          </a:xfrm>
          <a:prstGeom prst="roundRect">
            <a:avLst>
              <a:gd name="adj" fmla="val 10811"/>
            </a:avLst>
          </a:prstGeom>
          <a:solidFill>
            <a:srgbClr val="FFF8EC"/>
          </a:solidFill>
          <a:ln w="15240">
            <a:solidFill>
              <a:srgbClr val="9B651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513892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E4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投放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B65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广告 · UTM / campaign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60036" y="5138928"/>
            <a:ext cx="2468880" cy="676656"/>
          </a:xfrm>
          <a:prstGeom prst="roundRect">
            <a:avLst>
              <a:gd name="adj" fmla="val 10811"/>
            </a:avLst>
          </a:prstGeom>
          <a:solidFill>
            <a:srgbClr val="FFF8EC"/>
          </a:solidFill>
          <a:ln w="15240">
            <a:solidFill>
              <a:srgbClr val="9B651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0036" y="513892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E4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代理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B65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邀请来源 · 推广关系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11312" y="5138928"/>
            <a:ext cx="2468880" cy="676656"/>
          </a:xfrm>
          <a:prstGeom prst="roundRect">
            <a:avLst>
              <a:gd name="adj" fmla="val 10811"/>
            </a:avLst>
          </a:prstGeom>
          <a:solidFill>
            <a:srgbClr val="FFF8EC"/>
          </a:solidFill>
          <a:ln w="15240">
            <a:solidFill>
              <a:srgbClr val="9B651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11312" y="513892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E4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自流量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B65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 + 官方直推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743200" y="5815584"/>
            <a:ext cx="0" cy="201168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4476" y="5815584"/>
            <a:ext cx="0" cy="201168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45752" y="5815584"/>
            <a:ext cx="0" cy="201168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6016752"/>
            <a:ext cx="6702552" cy="0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4476" y="6016752"/>
            <a:ext cx="0" cy="182880"/>
          </a:xfrm>
          <a:prstGeom prst="line">
            <a:avLst/>
          </a:prstGeom>
          <a:noFill/>
          <a:ln w="19050">
            <a:solidFill>
              <a:srgbClr val="5E8C8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91356" y="6199632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13756F"/>
          </a:solidFill>
          <a:ln w="15240">
            <a:solidFill>
              <a:srgbClr val="1375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991356" y="61996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    </a:t>
            </a:r>
            <a:pPr algn="ctr" indent="0" marL="0">
              <a:buNone/>
            </a:pPr>
            <a:r>
              <a:rPr lang="en-US" sz="1200" dirty="0">
                <a:solidFill>
                  <a:srgbClr val="DCE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玩家 · 经营单元内严格隔离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75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§2 各层级说明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六层各自的角色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14600"/>
            <a:ext cx="384048" cy="384048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16736" y="2496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00837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最高归属与控制方，统管旗下多个市场与商户，负责整体策略、资源调配和全局口径。对应 V2 平台 / 最高控制方。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53128" y="23317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514600"/>
            <a:ext cx="384048" cy="384048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9784" y="2496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81728" y="300837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按国家或地区划分，承载币种、语言与本地化口径；以市场模板向下默认继承。对应 V2「市场模板」。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66176" y="233172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2514600"/>
            <a:ext cx="384048" cy="384048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42832" y="2496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商户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94776" y="300837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运营主体与合同、计费、团队边界；其下挂商户团队按授权经营。是经营责任的承载层。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16736" y="44622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域名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497433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品牌级入口资产，分主站/推广/落地/备用。域名先定上下文，渠道再定来源，不归属于渠道。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53128" y="42976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4480560"/>
            <a:ext cx="384048" cy="384048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9784" y="44622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81728" y="497433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挂在域名下的来源归因容器，用于统计与运营管理；只能绑定本单元可用域名。详见 §3。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66176" y="42976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D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49056" y="4480560"/>
            <a:ext cx="384048" cy="384048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31" name="Text 29"/>
          <p:cNvSpPr/>
          <p:nvPr/>
        </p:nvSpPr>
        <p:spPr>
          <a:xfrm>
            <a:off x="8449056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42832" y="44622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94776" y="497433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 C 端的玩家主体，承载注册、钱包、投注、VIP、邀请关系；会员之间形成代理树。按单元严格隔离。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65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§3 渠道三分类（来源归因）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会员从哪里来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来源优先级：邀请链接 → 官方直推 → 广告 / UTM → 自然访问 → 未知来源　·　原始来源在注册时固定，后续不改写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51476" y="18745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E8F3F1"/>
          </a:solidFill>
          <a:ln w="15240">
            <a:solidFill>
              <a:srgbClr val="1375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51476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4476" y="2423160"/>
            <a:ext cx="0" cy="219456"/>
          </a:xfrm>
          <a:prstGeom prst="line">
            <a:avLst/>
          </a:prstGeom>
          <a:noFill/>
          <a:ln w="19050">
            <a:solidFill>
              <a:srgbClr val="9B65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2642616"/>
            <a:ext cx="6793992" cy="0"/>
          </a:xfrm>
          <a:prstGeom prst="line">
            <a:avLst/>
          </a:prstGeom>
          <a:noFill/>
          <a:ln w="19050">
            <a:solidFill>
              <a:srgbClr val="9B65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2642616"/>
            <a:ext cx="0" cy="192024"/>
          </a:xfrm>
          <a:prstGeom prst="line">
            <a:avLst/>
          </a:prstGeom>
          <a:noFill/>
          <a:ln w="19050">
            <a:solidFill>
              <a:srgbClr val="9B65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4476" y="2642616"/>
            <a:ext cx="0" cy="192024"/>
          </a:xfrm>
          <a:prstGeom prst="line">
            <a:avLst/>
          </a:prstGeom>
          <a:noFill/>
          <a:ln w="19050">
            <a:solidFill>
              <a:srgbClr val="9B65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2642616"/>
            <a:ext cx="0" cy="192024"/>
          </a:xfrm>
          <a:prstGeom prst="line">
            <a:avLst/>
          </a:prstGeom>
          <a:noFill/>
          <a:ln w="19050">
            <a:solidFill>
              <a:srgbClr val="9B65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4420" y="2834640"/>
            <a:ext cx="3246120" cy="2395728"/>
          </a:xfrm>
          <a:prstGeom prst="roundRect">
            <a:avLst>
              <a:gd name="adj" fmla="val 2672"/>
            </a:avLst>
          </a:prstGeom>
          <a:solidFill>
            <a:srgbClr val="FFF8EC"/>
          </a:solidFill>
          <a:ln w="15240">
            <a:solidFill>
              <a:srgbClr val="9B651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30452" y="303580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4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投放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30452" y="3511296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65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付费广告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30452" y="3877056"/>
            <a:ext cx="2734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4D3A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广告链接、UTM、媒体买量、落地页或 campaign，用于核算投放效果与 ROI。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0452" y="486460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71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V2 广告投放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71416" y="2834640"/>
            <a:ext cx="3246120" cy="2395728"/>
          </a:xfrm>
          <a:prstGeom prst="roundRect">
            <a:avLst>
              <a:gd name="adj" fmla="val 2672"/>
            </a:avLst>
          </a:prstGeom>
          <a:solidFill>
            <a:srgbClr val="FFF8EC"/>
          </a:solidFill>
          <a:ln w="15240">
            <a:solidFill>
              <a:srgbClr val="9B651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7448" y="303580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4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代理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27448" y="3511296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65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分销 / 推广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27448" y="3877056"/>
            <a:ext cx="2734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4D3A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会员、邀请人或外部代理的邀请码 / 链接带来，同时形成会员之间的推广关系。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7448" y="486460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71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V2 邀请来源 / 代理体系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8412" y="2834640"/>
            <a:ext cx="3246120" cy="2395728"/>
          </a:xfrm>
          <a:prstGeom prst="roundRect">
            <a:avLst>
              <a:gd name="adj" fmla="val 2672"/>
            </a:avLst>
          </a:prstGeom>
          <a:solidFill>
            <a:srgbClr val="FFF8EC"/>
          </a:solidFill>
          <a:ln w="15240">
            <a:solidFill>
              <a:srgbClr val="9B651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24444" y="303580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4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自流量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124444" y="3511296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65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 / 私域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24444" y="3877056"/>
            <a:ext cx="2734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4D3A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无推广参数的直接访问，及官方直推入口（二维码、KOL、落地页），含默认兜底。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4444" y="486460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71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V2 自然流量 + 官方直推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97480" y="5230368"/>
            <a:ext cx="0" cy="201168"/>
          </a:xfrm>
          <a:prstGeom prst="line">
            <a:avLst/>
          </a:prstGeom>
          <a:noFill/>
          <a:ln w="19050">
            <a:solidFill>
              <a:srgbClr val="9B65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4476" y="5230368"/>
            <a:ext cx="0" cy="201168"/>
          </a:xfrm>
          <a:prstGeom prst="line">
            <a:avLst/>
          </a:prstGeom>
          <a:noFill/>
          <a:ln w="19050">
            <a:solidFill>
              <a:srgbClr val="9B65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91472" y="5230368"/>
            <a:ext cx="0" cy="201168"/>
          </a:xfrm>
          <a:prstGeom prst="line">
            <a:avLst/>
          </a:prstGeom>
          <a:noFill/>
          <a:ln w="19050">
            <a:solidFill>
              <a:srgbClr val="9B65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5431536"/>
            <a:ext cx="6793992" cy="0"/>
          </a:xfrm>
          <a:prstGeom prst="line">
            <a:avLst/>
          </a:prstGeom>
          <a:noFill/>
          <a:ln w="19050">
            <a:solidFill>
              <a:srgbClr val="9B65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4476" y="5431536"/>
            <a:ext cx="0" cy="182880"/>
          </a:xfrm>
          <a:prstGeom prst="line">
            <a:avLst/>
          </a:prstGeom>
          <a:noFill/>
          <a:ln w="19050">
            <a:solidFill>
              <a:srgbClr val="9B65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31436" y="5614416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13756F"/>
          </a:solidFill>
          <a:ln w="15240">
            <a:solidFill>
              <a:srgbClr val="13756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31436" y="561441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</a:t>
            </a:r>
            <a:pPr algn="ctr" indent="0" marL="0">
              <a:buNone/>
            </a:pPr>
            <a:r>
              <a:rPr lang="en-US" sz="1200" dirty="0">
                <a:solidFill>
                  <a:srgbClr val="DCE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三类来源最终都沉淀为会员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75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§4 层级间关键关系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继承 · 授权 · 入口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D9E1D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496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A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市场模板 · 默认继承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916936"/>
            <a:ext cx="5029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市场以国家为唯一键，由平台提供默认配置参数（金额、支付、风控阈值、VIP 档位、本地化）。商户启用后默认继承、可调整；平台后续变更不自动覆盖。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3317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D9E1D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496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A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商户团队 · 按授权经营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916936"/>
            <a:ext cx="5029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商户用一支职能团队经营旗下单元。账号能力由角色配置决定，可经营范围由 brand_access 决定；对域名、渠道、会员的操作都在授权边界内。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142232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D9E1D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3068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A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域名类型 · 入口资产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727448"/>
            <a:ext cx="5029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一个单元可拥有主站、推广、落地、备用域名。域名负责把访问落到确定上下文；解绑换绑停用只影响后续解析，不改写历史快照。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4142232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EEF3F2"/>
          </a:solidFill>
          <a:ln w="12700">
            <a:solidFill>
              <a:srgbClr val="D9E1D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43068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A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代理树 · 推广关系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4727448"/>
            <a:ext cx="5029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会员之间天然可形成邀请/推广关系，构成代理树。代理类渠道带来会员的同时形成推广关系；与渠道来源归因相互独立。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897880"/>
            <a:ext cx="10908792" cy="640080"/>
          </a:xfrm>
          <a:prstGeom prst="roundRect">
            <a:avLst>
              <a:gd name="adj" fmla="val 8571"/>
            </a:avLst>
          </a:prstGeom>
          <a:solidFill>
            <a:srgbClr val="13756F"/>
          </a:solidFill>
          <a:ln w="12700">
            <a:solidFill>
              <a:srgbClr val="1375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897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四端入口　</a:t>
            </a:r>
            <a:pPr indent="0" marL="0">
              <a:buNone/>
            </a:pPr>
            <a:r>
              <a:rPr lang="en-US" sz="1300" dirty="0">
                <a:solidFill>
                  <a:srgbClr val="DCE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平台端→集团　·　商户端→商户团队　·　会员端→会员　·　代理端→代理树（只读）　——　端是访问入口，不是业务层级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75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§5 与 V2 核心体系对应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层级口径对照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959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本树状图层级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5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V2 核心体系对应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5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说明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56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集团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平台 / 最高控制方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顶层归属与全局口径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市场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市场模板（国家市场）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币种、语言、本地化与风控档位边界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商户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商户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合同、计费、团队与经营责任边界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域名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域名（品牌级入口资产）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先定上下文，不归属渠道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渠道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渠道 / 来源入口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来源归因容器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　├ 投放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广告投放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付费买量，核算 ROI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　├ 代理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邀请来源 / 代理体系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推广关系 + 来源归因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　└ 自流量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自然流量 + 官方直推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兜底来源 + 自建私域入口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会员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玩家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2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经营单元内严格隔离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B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差异：市场被提升为集团与商户之间的分层维度；V2 四类来源收敛为投放/代理/自流量三类。落地以 V2 主骨架为准。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F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§6 关键原则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五条不可破的边界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1031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逐层从属　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FD3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上一层确定下一层归属；会员、资金、订单等以经营单元为隔离边界，不跨层混用。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990088"/>
            <a:ext cx="502920" cy="502920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944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域名定上下文，渠道定来源　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FD3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只有域名而无明确渠道信息时，进入该单元的默认自然流量入口。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831336"/>
            <a:ext cx="502920" cy="502920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78561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三套关系分离　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FD3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来源归因解释入口，代理体系解释推广关系，业绩归集解释经营责任，三者不可合一。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672584"/>
            <a:ext cx="502920" cy="502920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72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历史事实不被改写　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FD3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注册时的市场、商户、域名、渠道与来源形成快照；后续调整、划拨、关闭均不反向改写。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5513832"/>
            <a:ext cx="502920" cy="502920"/>
          </a:xfrm>
          <a:prstGeom prst="ellipse">
            <a:avLst/>
          </a:prstGeom>
          <a:solidFill>
            <a:srgbClr val="13756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513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546811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不提供转代　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FD3C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不通过运营动作重排会员代理树；员工间划拨只改经营归属，不改来源与代理树位置。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集团 → 会员 层级树状图</dc:title>
  <dc:subject>PptxGenJS Presentation</dc:subject>
  <dc:creator>eason</dc:creator>
  <cp:lastModifiedBy>eason</cp:lastModifiedBy>
  <cp:revision>1</cp:revision>
  <dcterms:created xsi:type="dcterms:W3CDTF">2026-06-03T13:25:12Z</dcterms:created>
  <dcterms:modified xsi:type="dcterms:W3CDTF">2026-06-03T13:25:12Z</dcterms:modified>
</cp:coreProperties>
</file>